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Fira Code"/>
      <p:regular r:id="rId19"/>
      <p:bold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bold.fntdata"/><Relationship Id="rId11" Type="http://schemas.openxmlformats.org/officeDocument/2006/relationships/font" Target="fonts/Poppins-regular.fntdata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font" Target="fonts/Poppins-italic.fntdata"/><Relationship Id="rId24" Type="http://schemas.openxmlformats.org/officeDocument/2006/relationships/font" Target="fonts/RobotoMono-boldItalic.fntdata"/><Relationship Id="rId12" Type="http://schemas.openxmlformats.org/officeDocument/2006/relationships/font" Target="fonts/Poppins-bold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Code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255519" y="2281237"/>
            <a:ext cx="76809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Fake News </a:t>
            </a:r>
            <a:r>
              <a:rPr b="1" i="0" lang="en-US" sz="540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Detection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162300" y="3681412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Comparative Study: Classical ML vs. Deep Sequential LSTM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0" y="4538662"/>
            <a:ext cx="762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714375" y="476250"/>
            <a:ext cx="1145143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01. Dataset &amp; </a:t>
            </a:r>
            <a:r>
              <a:rPr b="1" i="0" lang="en-US" sz="315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Preprocessing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71500" y="476250"/>
            <a:ext cx="57150" cy="60007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897981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ISOT Fake News Corpus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286500" y="2897981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Pipeline Operations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47725" y="33242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326606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Volume: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44,898 structured news articles.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47725" y="35956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598068"/>
            <a:ext cx="4953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Target: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Balanced binary classification (0: Fake, 1: True).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47725" y="38671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869531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Lengths: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Right-skewed distribution (dense at 200–1000 words).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62725" y="33242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3326606"/>
            <a:ext cx="4953000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 union: Concatenating title and text streams.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62725" y="36052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3607593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Text cleaning: Universal lowercase conversion and complete punctuation/special symbol dropping.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62725" y="414813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0" y="4150518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Validation split: Clean 70% Train / 15% Val / 15% Test partition.</a:t>
            </a:r>
            <a:endParaRPr/>
          </a:p>
        </p:txBody>
      </p:sp>
      <p:pic>
        <p:nvPicPr>
          <p:cNvPr id="107" name="Google Shape;107;p14" title="Screenshot 2026-05-22 at 13.01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75" y="4836318"/>
            <a:ext cx="91059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693193"/>
            <a:ext cx="5334000" cy="23574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14375" y="476250"/>
            <a:ext cx="1145143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02. Baseline: </a:t>
            </a:r>
            <a:r>
              <a:rPr b="1" i="0" lang="en-US" sz="315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TF-IDF + Logistic Regression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476250"/>
            <a:ext cx="57150" cy="60007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693193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Statistical Feature Extraction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150393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Maps global vocabulary token distribution while automatically penalizing generic structural stop-words.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874293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Classifier: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L2-regularized Logistic Regression to handle high-dimensional sparse vector spaces without overfitting.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598193"/>
            <a:ext cx="5334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Outstanding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98.73% Accuracy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achieved instantly.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86525" y="3764756"/>
            <a:ext cx="3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305925" y="3764756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5" title="Screenshot 2026-05-22 at 13.03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2200" y="2693200"/>
            <a:ext cx="5448300" cy="27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552700"/>
            <a:ext cx="5334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14375" y="476250"/>
            <a:ext cx="1145143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03. Deep Learning: </a:t>
            </a:r>
            <a:r>
              <a:rPr b="1" i="0" lang="en-US" sz="315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LSTM Network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476250"/>
            <a:ext cx="57150" cy="60007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5527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Recurrent Architecture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00990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Processes incoming texts as integer token chains rather than static frequency grids.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73380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Pipeline: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Standardized padding/truncating → Dense Embedding vector space → LSTM sequence matrix → Sigmoid logit head.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4457700"/>
            <a:ext cx="533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Loss/Optimizer: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Trained via PyTorch with BCELoss and Adam Optimizer.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486525" y="2752725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[ PASTE YOUR PYTORCH LSTM CLASS HERE ]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486525" y="3171825"/>
            <a:ext cx="4933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Вставь сюда архитектуру своей нейросети: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486525" y="3624262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43725" y="3624262"/>
            <a:ext cx="68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LSTMModel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91325" y="3805237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096125" y="3805237"/>
            <a:ext cx="609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__init__</a:t>
            </a:r>
            <a:endParaRPr/>
          </a:p>
        </p:txBody>
      </p:sp>
      <p:pic>
        <p:nvPicPr>
          <p:cNvPr id="139" name="Google Shape;139;p16" title="Screenshot 2026-05-22 at 13.04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5613" y="2486000"/>
            <a:ext cx="5895775" cy="27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375" y="2705100"/>
            <a:ext cx="90011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375" y="3324225"/>
            <a:ext cx="90011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9375" y="2705100"/>
            <a:ext cx="8886676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9375" y="3324225"/>
            <a:ext cx="885705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14375" y="476250"/>
            <a:ext cx="1145143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04. Results &amp; </a:t>
            </a:r>
            <a:r>
              <a:rPr b="1" i="0" lang="en-US" sz="3150" u="none" cap="none" strike="noStrik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The Paradox Analysis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476250"/>
            <a:ext cx="57150" cy="60007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71525" y="4191000"/>
            <a:ext cx="10625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The "Reuters" Artifact (Error Analysis):</a:t>
            </a:r>
            <a:r>
              <a:rPr lang="en-US" sz="1700">
                <a:solidFill>
                  <a:schemeClr val="dk1"/>
                </a:solidFill>
              </a:rPr>
              <a:t> 99% of True news articles begin with a source marker: </a:t>
            </a: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"WASHINGTON (Reuters) - ..."</a:t>
            </a:r>
            <a:r>
              <a:rPr lang="en-US" sz="1700">
                <a:solidFill>
                  <a:schemeClr val="dk1"/>
                </a:solidFill>
              </a:rPr>
              <a:t>. TF-IDF gives this token immense statistical weight, allowing the linear baseline to instantly separate classes. Conversely, LSTM processes texts sequentially; long articles induce subtle </a:t>
            </a:r>
            <a:r>
              <a:rPr b="1" lang="en-US" sz="1700">
                <a:solidFill>
                  <a:schemeClr val="dk1"/>
                </a:solidFill>
              </a:rPr>
              <a:t>vanishing gradients</a:t>
            </a:r>
            <a:r>
              <a:rPr lang="en-US" sz="1700">
                <a:solidFill>
                  <a:schemeClr val="dk1"/>
                </a:solidFill>
              </a:rPr>
              <a:t> and structural noise, making the heavy neural model slightly lose to simple frequency checking.</a:t>
            </a:r>
            <a:endParaRPr sz="2000"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2828925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344805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LSTM Model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